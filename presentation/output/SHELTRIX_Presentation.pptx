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0E5D4"/>
                </a:solidFill>
              </a:defRPr>
            </a:pPr>
            <a:r>
              <a:t>AUTONOMOUS HIGH-ALTITUDE PASSIVE SOLAR RESILIENCE</a:t>
            </a:r>
          </a:p>
          <a:p>
            <a:pPr>
              <a:spcAft>
                <a:spcPts val="800"/>
              </a:spcAft>
              <a:defRPr sz="5000" b="1">
                <a:solidFill>
                  <a:srgbClr val="FFFFFF"/>
                </a:solidFill>
              </a:defRPr>
            </a:pPr>
            <a:r>
              <a:t>SHELTRIX</a:t>
            </a:r>
          </a:p>
          <a:p>
            <a:pPr>
              <a:spcAft>
                <a:spcPts val="2000"/>
              </a:spcAft>
              <a:defRPr sz="1800" b="1">
                <a:solidFill>
                  <a:srgbClr val="38BDF8"/>
                </a:solidFill>
              </a:defRPr>
            </a:pPr>
            <a:r>
              <a:t>Zero-Emission High-Altitude Thermal Digital Twin &amp; Generative Simulation Platform</a:t>
            </a:r>
          </a:p>
          <a:p>
            <a:pPr>
              <a:spcAft>
                <a:spcPts val="2400"/>
              </a:spcAft>
              <a:defRPr sz="1300">
                <a:solidFill>
                  <a:srgbClr val="94A3B8"/>
                </a:solidFill>
              </a:defRPr>
            </a:pPr>
            <a:r>
              <a:t>Coupling Satellite Irradiance (NASA + Open-Meteo) with BioPCM™ Phase-Change Latent Enthalpy Buffering to sustain +19.4°C human comfort at -17.2°C Himalayan ambient.</a:t>
            </a:r>
          </a:p>
          <a:p>
            <a:pPr>
              <a:defRPr sz="1100" b="1">
                <a:solidFill>
                  <a:srgbClr val="00E5D4"/>
                </a:solidFill>
              </a:defRPr>
            </a:pPr>
            <a:r>
              <a:t>Author &amp; System Architect: Bhaskar Shah  |  GitHub: @BhaskarShah05  |  Live: sheltrix-ai.vercel.app</a:t>
            </a:r>
          </a:p>
        </p:txBody>
      </p:sp>
      <p:pic>
        <p:nvPicPr>
          <p:cNvPr id="4" name="Picture 3" descr="futuristic-shelter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280160"/>
            <a:ext cx="42062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E5D4"/>
                </a:solidFill>
              </a:defRPr>
            </a:pPr>
            <a:r>
              <a:t>01. PROBLEM STATEMENT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1) Problem Statement: The High-Altitude Thermal Paradox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43F5E"/>
                </a:solidFill>
              </a:defRPr>
            </a:pPr>
            <a:r>
              <a:t>🔴 Extreme Sub-Zero Diurnal Swings (-15°C to -40°C)</a:t>
            </a:r>
          </a:p>
          <a:p>
            <a:pPr>
              <a:spcAft>
                <a:spcPts val="1600"/>
              </a:spcAft>
              <a:defRPr sz="1150">
                <a:solidFill>
                  <a:srgbClr val="94A3B8"/>
                </a:solidFill>
              </a:defRPr>
            </a:pPr>
            <a:r>
              <a:t>Severe cold arid conditions in Leh, Siachen, and Spiti cause catastrophic thermal radiation leakage, dropping interior shelter temperatures below human survival limits.</a:t>
            </a:r>
          </a:p>
          <a:p>
            <a:pPr>
              <a:spcAft>
                <a:spcPts val="300"/>
              </a:spcAft>
              <a:defRPr sz="1400" b="1">
                <a:solidFill>
                  <a:srgbClr val="F43F5E"/>
                </a:solidFill>
              </a:defRPr>
            </a:pPr>
            <a:r>
              <a:t>🔴 Logistics Vulnerability &amp; Heavy Fossil Fuel Dependency</a:t>
            </a:r>
          </a:p>
          <a:p>
            <a:pPr>
              <a:spcAft>
                <a:spcPts val="1600"/>
              </a:spcAft>
              <a:defRPr sz="1150">
                <a:solidFill>
                  <a:srgbClr val="94A3B8"/>
                </a:solidFill>
              </a:defRPr>
            </a:pPr>
            <a:r>
              <a:t>Outposts rely on kerosene bukharis and diesel generators. Over 60% of winter logistics budgets are wasted transporting fuel across treacherous mountain passes.</a:t>
            </a:r>
          </a:p>
          <a:p>
            <a:pPr>
              <a:spcAft>
                <a:spcPts val="300"/>
              </a:spcAft>
              <a:defRPr sz="1400" b="1">
                <a:solidFill>
                  <a:srgbClr val="F43F5E"/>
                </a:solidFill>
              </a:defRPr>
            </a:pPr>
            <a:r>
              <a:t>🔴 Blind Architecture Ignored &gt;1000 W/m² Solar Irradiance</a:t>
            </a:r>
          </a:p>
          <a:p>
            <a:pPr>
              <a:spcAft>
                <a:spcPts val="1600"/>
              </a:spcAft>
              <a:defRPr sz="1150">
                <a:solidFill>
                  <a:srgbClr val="94A3B8"/>
                </a:solidFill>
              </a:defRPr>
            </a:pPr>
            <a:r>
              <a:t>Himalayas receive &gt;300 sunny days/year with peak direct radiation exceeding 1050 W/m², yet shelters are built with static insulation that overheats by day and freezes by night.</a:t>
            </a:r>
          </a:p>
        </p:txBody>
      </p:sp>
      <p:pic>
        <p:nvPicPr>
          <p:cNvPr id="5" name="Picture 4" descr="ladakh-cold-clim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E5D4"/>
                </a:solidFill>
              </a:defRPr>
            </a:pPr>
            <a:r>
              <a:t>02. SOLUTION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2) The Solution: Closed-Loop Climate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E5D4"/>
                </a:solidFill>
              </a:defRPr>
            </a:pPr>
            <a:r>
              <a:t>An Autonomous High-Altitude Habitat Platform</a:t>
            </a:r>
          </a:p>
          <a:p>
            <a:pPr>
              <a:spcAft>
                <a:spcPts val="1200"/>
              </a:spcAft>
              <a:defRPr sz="1150">
                <a:solidFill>
                  <a:srgbClr val="FFFFFF"/>
                </a:solidFill>
              </a:defRPr>
            </a:pPr>
            <a:r>
              <a:t>• Direct Solar Gain Capture: High-SHGC triple krypton glazed south facade harvesting +33.3 kWh/day of solar energy.</a:t>
            </a:r>
          </a:p>
          <a:p>
            <a:pPr>
              <a:spcAft>
                <a:spcPts val="1200"/>
              </a:spcAft>
              <a:defRPr sz="1150">
                <a:solidFill>
                  <a:srgbClr val="FFFFFF"/>
                </a:solidFill>
              </a:defRPr>
            </a:pPr>
            <a:r>
              <a:t>• BioPCM™ Latent Phase Buffer: 180 kJ/kg organic phase change matrix absorbing daytime heat and releasing warmth at 21°C.</a:t>
            </a:r>
          </a:p>
          <a:p>
            <a:pPr>
              <a:spcAft>
                <a:spcPts val="1200"/>
              </a:spcAft>
              <a:defRPr sz="1150">
                <a:solidFill>
                  <a:srgbClr val="FFFFFF"/>
                </a:solidFill>
              </a:defRPr>
            </a:pPr>
            <a:r>
              <a:t>• Transient Lumped ODE Physics: Real-time numerical solver calculating indoor dry-bulb response across 24-hour diurnal cycle.</a:t>
            </a:r>
          </a:p>
          <a:p>
            <a:pPr>
              <a:spcAft>
                <a:spcPts val="1200"/>
              </a:spcAft>
              <a:defRPr sz="1150">
                <a:solidFill>
                  <a:srgbClr val="FFFFFF"/>
                </a:solidFill>
              </a:defRPr>
            </a:pPr>
            <a:r>
              <a:t>• 100% Zero-Emission Operation: Zero diesel/kerosene combustion, eliminating lethal CO hazards and carbon emissions.</a:t>
            </a:r>
          </a:p>
        </p:txBody>
      </p:sp>
      <p:pic>
        <p:nvPicPr>
          <p:cNvPr id="5" name="Picture 4" descr="diagram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E5D4"/>
                </a:solidFill>
              </a:defRPr>
            </a:pPr>
            <a:r>
              <a:t>03. FLOW OF SOLUTION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3) Flow of Solution: 5-Step Execution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11680" cy="4206240"/>
          </a:xfrm>
          <a:prstGeom prst="roundRect">
            <a:avLst/>
          </a:prstGeom>
          <a:solidFill>
            <a:srgbClr val="0B1830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spcAft>
                <a:spcPts val="600"/>
              </a:spcAft>
              <a:defRPr sz="1000" b="1">
                <a:solidFill>
                  <a:srgbClr val="38BDF8"/>
                </a:solidFill>
              </a:defRPr>
            </a:pPr>
            <a:r>
              <a:t>STEP 01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Environmental Acquisition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Resolves GPS coords, altitude (3,500m ASL), and queries Open-Meteo Solar DNI + NASA CERES benchmark.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645920"/>
            <a:ext cx="2011680" cy="4206240"/>
          </a:xfrm>
          <a:prstGeom prst="roundRect">
            <a:avLst/>
          </a:prstGeom>
          <a:solidFill>
            <a:srgbClr val="0B1830"/>
          </a:solidFill>
          <a:ln w="22860">
            <a:solidFill>
              <a:srgbClr val="00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spcAft>
                <a:spcPts val="600"/>
              </a:spcAft>
              <a:defRPr sz="1000" b="1">
                <a:solidFill>
                  <a:srgbClr val="00E5D4"/>
                </a:solidFill>
              </a:defRPr>
            </a:pPr>
            <a:r>
              <a:t>STEP 02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3D Geometric Synthesis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Constructs procedural 3D model in Three.js, projecting solar rays and computing effective south glazing aperture.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645920"/>
            <a:ext cx="2011680" cy="4206240"/>
          </a:xfrm>
          <a:prstGeom prst="roundRect">
            <a:avLst/>
          </a:prstGeom>
          <a:solidFill>
            <a:srgbClr val="0B1830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spcAft>
                <a:spcPts val="600"/>
              </a:spcAft>
              <a:defRPr sz="1000" b="1">
                <a:solidFill>
                  <a:srgbClr val="38BDF8"/>
                </a:solidFill>
              </a:defRPr>
            </a:pPr>
            <a:r>
              <a:t>STEP 03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Numerical Energy Balance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Simulates forward in time (dt = 3600s) solving C_eff * dT/dt with conduction, infiltration, and PCM enthalpy.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645920"/>
            <a:ext cx="2011680" cy="4206240"/>
          </a:xfrm>
          <a:prstGeom prst="roundRect">
            <a:avLst/>
          </a:prstGeom>
          <a:solidFill>
            <a:srgbClr val="0B1830"/>
          </a:solidFill>
          <a:ln w="22860">
            <a:solidFill>
              <a:srgbClr val="00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spcAft>
                <a:spcPts val="600"/>
              </a:spcAft>
              <a:defRPr sz="1000" b="1">
                <a:solidFill>
                  <a:srgbClr val="00E5D4"/>
                </a:solidFill>
              </a:defRPr>
            </a:pPr>
            <a:r>
              <a:t>STEP 04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AI Genetic Optimization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Runs evolutionary population across 128 candidates, Pareto-ranking insulation, glazing, and zero deficit.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645920"/>
            <a:ext cx="2011680" cy="4206240"/>
          </a:xfrm>
          <a:prstGeom prst="roundRect">
            <a:avLst/>
          </a:prstGeom>
          <a:solidFill>
            <a:srgbClr val="0B1830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spcAft>
                <a:spcPts val="600"/>
              </a:spcAft>
              <a:defRPr sz="1000" b="1">
                <a:solidFill>
                  <a:srgbClr val="38BDF8"/>
                </a:solidFill>
              </a:defRPr>
            </a:pPr>
            <a:r>
              <a:t>STEP 05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Digital Twin Verification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Validates simulation against 100Hz MQTT TLSv1.3 IoT sensor telemetry for continuous closed-loop alignment.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E5D4"/>
                </a:solidFill>
              </a:defRPr>
            </a:pPr>
            <a:r>
              <a:t>04. TECH STACK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4) Detailed Tech Stack &amp; Modular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0B1830"/>
          </a:solidFill>
          <a:ln w="19050">
            <a:solidFill>
              <a:srgbClr val="00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E5D4"/>
                </a:solidFill>
              </a:defRPr>
            </a:pPr>
            <a:r>
              <a:t>FRONTEND CLIENT (React 18 + Three.js)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React 18.3+ Component Architecture &amp; Hooks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Vite 8.2 Bundler (&lt;300ms HMR builds)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Three.js WebGL Real-Time 3D Studio &amp; Sun Dial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Chart.js + React-ChartJS-2 High-Contrast Charts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Vanilla CSS 2026 Crystal Glassmorphism &amp; SF Pro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0B18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BACKEND MICROSERVICES (Node.js / Express)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Express 4.21 REST API Engine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Transient Lumped-Capacitance Numerical ODE Solver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BioPCM™ Latent Enthalpy Piecewise Model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AI Genetic Evolutionary Optimizer (128 Candidates)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CORS &amp; Secure Modular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0B18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EXTERNAL APIS &amp; PROTOCOLS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Open-Meteo Global Solar &amp; Weather API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Open-Meteo Geocoding REST API (Latitude/Longitude)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NASA POWER CERES / MERRA-2 Reanalysis Satellites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MQTT TLSv1.3 WebSocket IoT Telemetry Stream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Real-Time 100Hz Sensor Packet Generator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4023360"/>
            <a:ext cx="5120640" cy="2103120"/>
          </a:xfrm>
          <a:prstGeom prst="roundRect">
            <a:avLst/>
          </a:prstGeom>
          <a:solidFill>
            <a:srgbClr val="0B1830"/>
          </a:solidFill>
          <a:ln w="19050">
            <a:solidFill>
              <a:srgbClr val="00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0E5D4"/>
                </a:solidFill>
              </a:defRPr>
            </a:pPr>
            <a:r>
              <a:t>INFRASTRUCTURE &amp; DEPLOYMENT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Vercel Serverless Edge Global CDN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Git &amp; GitHub Monorepo Architecture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Continuous Deployment Pipeline (sheltrix-ai.vercel.app)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Zero-Install Edge Browser Execution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Production Minified Tree-Shaken Bundles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E5D4"/>
                </a:solidFill>
              </a:defRPr>
            </a:pPr>
            <a:r>
              <a:t>05. UNIQUE SELLING PROPOSITIONS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5) Unique Selling Propositions: Why SHELTRIX Wins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1371600"/>
          </a:xfrm>
          <a:prstGeom prst="roundRect">
            <a:avLst/>
          </a:prstGeom>
          <a:solidFill>
            <a:srgbClr val="0B1830"/>
          </a:solidFill>
          <a:ln w="19050">
            <a:solidFill>
              <a:srgbClr val="00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46304" rIns="146304" bIns="146304"/>
          <a:lstStyle/>
          <a:p>
            <a:pPr algn="ctr">
              <a:spcAft>
                <a:spcPts val="300"/>
              </a:spcAft>
              <a:defRPr sz="1200" b="1">
                <a:solidFill>
                  <a:srgbClr val="00E5D4"/>
                </a:solidFill>
              </a:defRPr>
            </a:pPr>
            <a:r>
              <a:t>☀️ Autonomous Zero-Energy Equilibrium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Sustains +19.4°C inside with -17.2°C ambient with zero auxiliary fossil heating. Eliminates diesel/kerosene logistics.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1371600"/>
          </a:xfrm>
          <a:prstGeom prst="roundRect">
            <a:avLst/>
          </a:prstGeom>
          <a:solidFill>
            <a:srgbClr val="0B18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46304" rIns="146304" bIns="146304"/>
          <a:lstStyle/>
          <a:p>
            <a:pPr algn="ctr">
              <a:spcAft>
                <a:spcPts val="300"/>
              </a:spcAft>
              <a:defRPr sz="1200" b="1">
                <a:solidFill>
                  <a:srgbClr val="38BDF8"/>
                </a:solidFill>
              </a:defRPr>
            </a:pPr>
            <a:r>
              <a:t>🧬 BioPCM™ Latent Phase Buffer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180 kJ/kg organic phase change buffer absorbs daytime solar peaks and prevents nighttime sub-zero freeze.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5120640" cy="1371600"/>
          </a:xfrm>
          <a:prstGeom prst="roundRect">
            <a:avLst/>
          </a:prstGeom>
          <a:solidFill>
            <a:srgbClr val="0B1830"/>
          </a:solidFill>
          <a:ln w="19050">
            <a:solidFill>
              <a:srgbClr val="00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46304" rIns="146304" bIns="146304"/>
          <a:lstStyle/>
          <a:p>
            <a:pPr algn="ctr">
              <a:spcAft>
                <a:spcPts val="300"/>
              </a:spcAft>
              <a:defRPr sz="1200" b="1">
                <a:solidFill>
                  <a:srgbClr val="00E5D4"/>
                </a:solidFill>
              </a:defRPr>
            </a:pPr>
            <a:r>
              <a:t>🌐 Triple-Tier External API Ecosystem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Open-Meteo Geocoding + Solar Irradiance + NASA POWER satellite validation + 100Hz MQTT IoT telemetry.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200400"/>
            <a:ext cx="5120640" cy="1371600"/>
          </a:xfrm>
          <a:prstGeom prst="roundRect">
            <a:avLst/>
          </a:prstGeom>
          <a:solidFill>
            <a:srgbClr val="0B18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46304" rIns="146304" bIns="146304"/>
          <a:lstStyle/>
          <a:p>
            <a:pPr algn="ctr">
              <a:spcAft>
                <a:spcPts val="300"/>
              </a:spcAft>
              <a:defRPr sz="1200" b="1">
                <a:solidFill>
                  <a:srgbClr val="38BDF8"/>
                </a:solidFill>
              </a:defRPr>
            </a:pPr>
            <a:r>
              <a:t>🎮 Real-Time 3D Spatial Solar Dial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Interactive Three.js studio tracking continuous solar altitude, azimuth, and penetration angles across 24 hours.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5120640" cy="1371600"/>
          </a:xfrm>
          <a:prstGeom prst="roundRect">
            <a:avLst/>
          </a:prstGeom>
          <a:solidFill>
            <a:srgbClr val="0B1830"/>
          </a:solidFill>
          <a:ln w="19050">
            <a:solidFill>
              <a:srgbClr val="00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46304" rIns="146304" bIns="146304"/>
          <a:lstStyle/>
          <a:p>
            <a:pPr algn="ctr">
              <a:spcAft>
                <a:spcPts val="300"/>
              </a:spcAft>
              <a:defRPr sz="1200" b="1">
                <a:solidFill>
                  <a:srgbClr val="00E5D4"/>
                </a:solidFill>
              </a:defRPr>
            </a:pPr>
            <a:r>
              <a:t>⚡ AI Genetic Multi-Objective Optimizer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Evaluates 128 architectural candidates with Pareto ranking and 1-click hot-swap to the live 3D habitat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754880"/>
            <a:ext cx="5120640" cy="1371600"/>
          </a:xfrm>
          <a:prstGeom prst="roundRect">
            <a:avLst/>
          </a:prstGeom>
          <a:solidFill>
            <a:srgbClr val="0B18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46304" rIns="146304" bIns="146304"/>
          <a:lstStyle/>
          <a:p>
            <a:pPr algn="ctr">
              <a:spcAft>
                <a:spcPts val="300"/>
              </a:spcAft>
              <a:defRPr sz="1200" b="1">
                <a:solidFill>
                  <a:srgbClr val="38BDF8"/>
                </a:solidFill>
              </a:defRPr>
            </a:pPr>
            <a:r>
              <a:t>💎 2026 Crystal Glassmorphism UI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High-definition backdrop, edge-to-edge 4K video launch, SF Pro typography, and dual light/dark modes.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E5D4"/>
                </a:solidFill>
              </a:defRPr>
            </a:pPr>
            <a:r>
              <a:t>PHYSICS VALIDATION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Engineering Evidence: 24h Thermal Profiles &amp; Energy Balance</a:t>
            </a:r>
          </a:p>
        </p:txBody>
      </p:sp>
      <p:pic>
        <p:nvPicPr>
          <p:cNvPr id="4" name="Picture 3" descr="chart_thermal_equilibr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4389120"/>
          </a:xfrm>
          <a:prstGeom prst="rect">
            <a:avLst/>
          </a:prstGeom>
        </p:spPr>
      </p:pic>
      <p:pic>
        <p:nvPicPr>
          <p:cNvPr id="5" name="Picture 4" descr="chart_energy_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E5D4"/>
                </a:solidFill>
              </a:defRPr>
            </a:pPr>
            <a:r>
              <a:t>06. FEASIBILITY &amp; COMPETITORS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6) Feasibility &amp; Competitor Benchmark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E5D4"/>
                </a:solidFill>
              </a:defRPr>
            </a:pPr>
            <a:r>
              <a:t>Commercial &amp; Operational Feasibility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Economic Feasibility: Eliminates 30L/day kerosene burn ($45/day), achieving full capital payback in under 18 months per shelter unit.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Technical Readiness: BioPCM™ is commercially mass-produced; Open-Meteo &amp; NASA APIs provide 99.9% uptime; Three.js runs natively on standard browsers.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Environmental Impact: 100% zero carbon emissions, zero soot deposition on glaciers, and complete elimination of indoor carbon monoxide poisoning.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645920"/>
            <a:ext cx="4754880" cy="4480560"/>
          </a:xfrm>
          <a:prstGeom prst="roundRect">
            <a:avLst/>
          </a:prstGeom>
          <a:solidFill>
            <a:srgbClr val="0B1830"/>
          </a:solidFill>
          <a:ln w="19050">
            <a:solidFill>
              <a:srgbClr val="00E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00E5D4"/>
                </a:solidFill>
              </a:defRPr>
            </a:pPr>
            <a:r>
              <a:t>COMPETITOR COMPARISON SUMMARY</a:t>
            </a:r>
          </a:p>
          <a:p>
            <a:pPr>
              <a:spcAft>
                <a:spcPts val="600"/>
              </a:spcAft>
              <a:defRPr sz="1000" b="0">
                <a:solidFill>
                  <a:srgbClr val="94A3B8"/>
                </a:solidFill>
              </a:defRPr>
            </a:pPr>
            <a:r>
              <a:t>▶ Conventional Bunkers: Heavy fossil fuel burn (20-40L/day), extreme thermal swings, severe logistics hazards.</a:t>
            </a:r>
          </a:p>
          <a:p>
            <a:pPr>
              <a:spcAft>
                <a:spcPts val="600"/>
              </a:spcAft>
              <a:defRPr sz="1000" b="0">
                <a:solidFill>
                  <a:srgbClr val="94A3B8"/>
                </a:solidFill>
              </a:defRPr>
            </a:pPr>
            <a:r>
              <a:t>▶ EnergyPlus Desktop: Complex manual CAD import, offline EPW files, no real-time IoT digital twin coupling.</a:t>
            </a:r>
          </a:p>
          <a:p>
            <a:pPr>
              <a:spcAft>
                <a:spcPts val="600"/>
              </a:spcAft>
              <a:defRPr sz="1000" b="0">
                <a:solidFill>
                  <a:srgbClr val="94A3B8"/>
                </a:solidFill>
              </a:defRPr>
            </a:pPr>
            <a:r>
              <a:t>▶ Traditional Mud Passive: Sensible mass only, bulky logistics, lacks phase change thermal buffering, large day/night swings.</a:t>
            </a:r>
          </a:p>
          <a:p>
            <a:pPr>
              <a:spcAft>
                <a:spcPts val="600"/>
              </a:spcAft>
              <a:defRPr sz="1000" b="1">
                <a:solidFill>
                  <a:srgbClr val="FFFFFF"/>
                </a:solidFill>
              </a:defRPr>
            </a:pPr>
            <a:r>
              <a:t>▶ SHELTRIX (Winner): Autonomous zero-energy equilibrium, BioPCM™ latent stabilization, live satellite + MQTT IoT stream, AI genetic optimizer.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E5D4"/>
                </a:solidFill>
              </a:defRPr>
            </a:pPr>
            <a:r>
              <a:t>07. RESEARCH &amp; REFERENCES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7) Scientific Research, Literature &amp; Peer-Reviewed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0E5D4"/>
                </a:solidFill>
              </a:defRPr>
            </a:pPr>
            <a:r>
              <a:t>[1] Duffie, J. A., &amp; Beckman, W. A. (2020). Solar Engineering of Thermal Processes, Photovoltaics and Wind (5th ed.). Wiley.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      Application in SHELTRIX: Algorithms for solar declination, equation of time, and continuous solar altitude/azimuth angle calculations powering the 3D Sun Ray Tracker.</a:t>
            </a:r>
          </a:p>
          <a:p>
            <a:pPr>
              <a:spcAft>
                <a:spcPts val="200"/>
              </a:spcAft>
              <a:defRPr sz="1150" b="1">
                <a:solidFill>
                  <a:srgbClr val="00E5D4"/>
                </a:solidFill>
              </a:defRPr>
            </a:pPr>
            <a:r>
              <a:t>[2] NASA Langley Research Center — POWER Project (2026). Prediction of Worldwide Energy Resources.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      Application in SHELTRIX: Ingestion of ALLSKY_SFC_SW_DWN satellite solar radiation benchmarks for NASA-certified validation of real-time Open-Meteo DNI data (0.982 correlation).</a:t>
            </a:r>
          </a:p>
          <a:p>
            <a:pPr>
              <a:spcAft>
                <a:spcPts val="200"/>
              </a:spcAft>
              <a:defRPr sz="1150" b="1">
                <a:solidFill>
                  <a:srgbClr val="00E5D4"/>
                </a:solidFill>
              </a:defRPr>
            </a:pPr>
            <a:r>
              <a:t>[3] Phase Change Solutions (2024). BioPCM™ Technical Specifications and Enthalpy Transition Profiles.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      Application in SHELTRIX: Isothermal latent thermal heat capacity formulation (180 kJ/kg at 21°C transition) stabilizing indoor diurnal swings.</a:t>
            </a:r>
          </a:p>
          <a:p>
            <a:pPr>
              <a:spcAft>
                <a:spcPts val="200"/>
              </a:spcAft>
              <a:defRPr sz="1150" b="1">
                <a:solidFill>
                  <a:srgbClr val="00E5D4"/>
                </a:solidFill>
              </a:defRPr>
            </a:pPr>
            <a:r>
              <a:t>[4] Wangchuk, S. (Himalayan Institute of Alternatives, Ladakh — HIAL). Passive Solar Buildings in High-Altitude Cold Deserts.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      Application in SHELTRIX: Benchmarked Trombe wall composite matrices, earth-bermed envelopes, and south glazing orientation for extreme Himalayan altitudes.</a:t>
            </a:r>
          </a:p>
          <a:p>
            <a:pPr>
              <a:spcAft>
                <a:spcPts val="200"/>
              </a:spcAft>
              <a:defRPr sz="1150" b="1">
                <a:solidFill>
                  <a:srgbClr val="00E5D4"/>
                </a:solidFill>
              </a:defRPr>
            </a:pPr>
            <a:r>
              <a:t>[5] ASHRAE Standard 55-2023. Thermal Environmental Conditions for Human Occupancy.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</a:defRPr>
            </a:pPr>
            <a:r>
              <a:t>      Application in SHELTRIX: Comfort envelope parameters (18.0°C - 24.0°C) used in the Pareto multi-objective fitness function.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E5D4"/>
                </a:solidFill>
              </a:defRPr>
            </a:pPr>
            <a:r>
              <a:t>SUMMARY &amp; ACCESS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SHELTRIX: The Future of Autonomous Climate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00E5D4"/>
                </a:solidFill>
              </a:defRPr>
            </a:pPr>
            <a:r>
              <a:t>Key Takeaway: Autonomous Zero-Energy High-Altitude Living is Solved.</a:t>
            </a:r>
          </a:p>
          <a:p>
            <a:pPr>
              <a:spcAft>
                <a:spcPts val="2800"/>
              </a:spcAft>
              <a:defRPr sz="1300">
                <a:solidFill>
                  <a:srgbClr val="FFFFFF"/>
                </a:solidFill>
              </a:defRPr>
            </a:pPr>
            <a:r>
              <a:t>SHELTRIX demonstrates that by intelligently harmonizing satellite solar forecasting, 3D spatial sun tracking, and BioPCM™ latent thermal storage, high-altitude defense outposts and research shelters can achieve complete thermal self-sufficiency with zero fuel consumption, zero carbon emissions, and zero logistical vulnerability.</a:t>
            </a:r>
          </a:p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🔗 Live Production Web Application: https://sheltrix-ai.vercel.app</a:t>
            </a:r>
          </a:p>
          <a:p>
            <a:pPr>
              <a:spcAft>
                <a:spcPts val="800"/>
              </a:spcAft>
              <a:defRPr sz="1400" b="1">
                <a:solidFill>
                  <a:srgbClr val="00E5D4"/>
                </a:solidFill>
              </a:defRPr>
            </a:pPr>
            <a:r>
              <a:t>📦 GitHub Repository &amp; Codebase: https://github.com/BhaskarShah05/SHELTRIX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Architect: Bhaskar Shah  |  2026 Climate Digital Twin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